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mo Bold" panose="020B0604020202020204" charset="0"/>
      <p:regular r:id="rId10"/>
    </p:embeddedFont>
    <p:embeddedFont>
      <p:font typeface="Garamond Bold" panose="02020804030307010803" pitchFamily="18" charset="0"/>
      <p:regular r:id="rId11"/>
      <p:bold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 S ABHINAV" userId="1ae4d980cdfa0961" providerId="LiveId" clId="{2980F7BE-E051-4B63-A287-C95CFD0E013D}"/>
    <pc:docChg chg="modSld">
      <pc:chgData name="V S ABHINAV" userId="1ae4d980cdfa0961" providerId="LiveId" clId="{2980F7BE-E051-4B63-A287-C95CFD0E013D}" dt="2026-09-02T05:57:03.626" v="3" actId="12788"/>
      <pc:docMkLst>
        <pc:docMk/>
      </pc:docMkLst>
      <pc:sldChg chg="modSp mod">
        <pc:chgData name="V S ABHINAV" userId="1ae4d980cdfa0961" providerId="LiveId" clId="{2980F7BE-E051-4B63-A287-C95CFD0E013D}" dt="2026-09-02T05:56:27.357" v="0" actId="113"/>
        <pc:sldMkLst>
          <pc:docMk/>
          <pc:sldMk cId="0" sldId="257"/>
        </pc:sldMkLst>
        <pc:spChg chg="mod">
          <ac:chgData name="V S ABHINAV" userId="1ae4d980cdfa0961" providerId="LiveId" clId="{2980F7BE-E051-4B63-A287-C95CFD0E013D}" dt="2026-09-02T05:56:27.357" v="0" actId="113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V S ABHINAV" userId="1ae4d980cdfa0961" providerId="LiveId" clId="{2980F7BE-E051-4B63-A287-C95CFD0E013D}" dt="2026-09-02T05:57:03.626" v="3" actId="12788"/>
        <pc:sldMkLst>
          <pc:docMk/>
          <pc:sldMk cId="0" sldId="262"/>
        </pc:sldMkLst>
        <pc:spChg chg="mod">
          <ac:chgData name="V S ABHINAV" userId="1ae4d980cdfa0961" providerId="LiveId" clId="{2980F7BE-E051-4B63-A287-C95CFD0E013D}" dt="2026-09-02T05:57:03.626" v="3" actId="12788"/>
          <ac:spMkLst>
            <pc:docMk/>
            <pc:sldMk cId="0" sldId="262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70371" y="159575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454033" y="338348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2257350"/>
            <a:ext cx="12618720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SAMUDRA -3D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832778"/>
            <a:ext cx="15544800" cy="1525947"/>
            <a:chOff x="0" y="0"/>
            <a:chExt cx="20726400" cy="20345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2034596"/>
            </a:xfrm>
            <a:custGeom>
              <a:avLst/>
              <a:gdLst/>
              <a:ahLst/>
              <a:cxnLst/>
              <a:rect l="l" t="t" r="r" b="b"/>
              <a:pathLst>
                <a:path w="20726400" h="2034596">
                  <a:moveTo>
                    <a:pt x="0" y="0"/>
                  </a:moveTo>
                  <a:lnTo>
                    <a:pt x="20726400" y="0"/>
                  </a:lnTo>
                  <a:lnTo>
                    <a:pt x="20726400" y="2034596"/>
                  </a:lnTo>
                  <a:lnTo>
                    <a:pt x="0" y="20345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436" b="-20055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20536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28446" y="3129788"/>
            <a:ext cx="10324092" cy="539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endParaRPr/>
          </a:p>
          <a:p>
            <a:pPr marL="470534" lvl="1" indent="-235267" algn="just">
              <a:lnSpc>
                <a:spcPts val="62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ID: SIH26067</a:t>
            </a:r>
          </a:p>
          <a:p>
            <a:pPr marL="470534" lvl="1" indent="-235267" algn="just">
              <a:lnSpc>
                <a:spcPts val="3613"/>
              </a:lnSpc>
              <a:buFont typeface="Arial"/>
              <a:buChar char="•"/>
            </a:pPr>
            <a:r>
              <a:rPr lang="en-US" sz="2599" spc="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Title: Develop a web-based, interactive 3D visualization platform that integrates numerical ocean model outputs and in situ observations. </a:t>
            </a:r>
          </a:p>
          <a:p>
            <a:pPr marL="470534" lvl="1" indent="-235267" algn="just">
              <a:lnSpc>
                <a:spcPts val="62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Theme: Disaster Management</a:t>
            </a:r>
          </a:p>
          <a:p>
            <a:pPr marL="470534" lvl="1" indent="-235267" algn="just">
              <a:lnSpc>
                <a:spcPts val="62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Category: Software</a:t>
            </a:r>
          </a:p>
          <a:p>
            <a:pPr marL="470534" lvl="1" indent="-235267" algn="just">
              <a:lnSpc>
                <a:spcPts val="514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ID: </a:t>
            </a:r>
          </a:p>
          <a:p>
            <a:pPr marL="470534" lvl="1" indent="-235267" algn="just">
              <a:lnSpc>
                <a:spcPts val="62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 Nexus Nova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386947" y="0"/>
            <a:ext cx="12050460" cy="2056961"/>
            <a:chOff x="0" y="0"/>
            <a:chExt cx="19056359" cy="3252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56359" cy="3252838"/>
            </a:xfrm>
            <a:custGeom>
              <a:avLst/>
              <a:gdLst/>
              <a:ahLst/>
              <a:cxnLst/>
              <a:rect l="l" t="t" r="r" b="b"/>
              <a:pathLst>
                <a:path w="19056359" h="3252838">
                  <a:moveTo>
                    <a:pt x="0" y="0"/>
                  </a:moveTo>
                  <a:lnTo>
                    <a:pt x="19056359" y="0"/>
                  </a:lnTo>
                  <a:lnTo>
                    <a:pt x="19056359" y="3252838"/>
                  </a:lnTo>
                  <a:lnTo>
                    <a:pt x="0" y="32528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19" r="-15161" b="-6659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9056359" cy="32814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920"/>
                </a:lnSpc>
              </a:pPr>
              <a:endParaRPr/>
            </a:p>
            <a:p>
              <a:pPr algn="ctr">
                <a:lnSpc>
                  <a:spcPts val="4920"/>
                </a:lnSpc>
              </a:pPr>
              <a:r>
                <a:rPr lang="en-US" sz="4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SAMUDRA-3D </a:t>
              </a:r>
            </a:p>
            <a:p>
              <a:pPr algn="ctr">
                <a:lnSpc>
                  <a:spcPts val="4920"/>
                </a:lnSpc>
              </a:pPr>
              <a:r>
                <a:rPr lang="en-US" sz="4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3D Ocean Digital Twin Platform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17067" y="186183"/>
            <a:ext cx="1937157" cy="1333369"/>
            <a:chOff x="0" y="0"/>
            <a:chExt cx="1180859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0859" cy="812800"/>
            </a:xfrm>
            <a:custGeom>
              <a:avLst/>
              <a:gdLst/>
              <a:ahLst/>
              <a:cxnLst/>
              <a:rect l="l" t="t" r="r" b="b"/>
              <a:pathLst>
                <a:path w="1180859" h="812800">
                  <a:moveTo>
                    <a:pt x="590430" y="0"/>
                  </a:moveTo>
                  <a:cubicBezTo>
                    <a:pt x="264344" y="0"/>
                    <a:pt x="0" y="181951"/>
                    <a:pt x="0" y="406400"/>
                  </a:cubicBezTo>
                  <a:cubicBezTo>
                    <a:pt x="0" y="630849"/>
                    <a:pt x="264344" y="812800"/>
                    <a:pt x="590430" y="812800"/>
                  </a:cubicBezTo>
                  <a:cubicBezTo>
                    <a:pt x="916515" y="812800"/>
                    <a:pt x="1180859" y="630849"/>
                    <a:pt x="1180859" y="406400"/>
                  </a:cubicBezTo>
                  <a:cubicBezTo>
                    <a:pt x="1180859" y="181951"/>
                    <a:pt x="916515" y="0"/>
                    <a:pt x="590430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0706" y="57150"/>
              <a:ext cx="959448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Nexus Nova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231897" y="2727960"/>
            <a:ext cx="12907209" cy="2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 :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SAMUDRA-3D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Platform: </a:t>
            </a:r>
            <a:r>
              <a:rPr lang="en-US" sz="2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Browser-based 3D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Ocean Digital Twin with no installation.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Ocean Data Visualization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Shows temperature, salinity, and ocean currents in 3D.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Instrument Tracking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Displays paths of Argo floats and underwater gliders.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Interactive Workspace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Combines ocean data and maps into a </a:t>
            </a:r>
            <a:r>
              <a:rPr lang="en-US" sz="2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single, smooth 3D environmen</a:t>
            </a:r>
            <a:r>
              <a:rPr lang="en-US" sz="25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31897" y="6106239"/>
            <a:ext cx="11941850" cy="236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6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Addressing the problem :</a:t>
            </a:r>
          </a:p>
          <a:p>
            <a:pPr marL="539746" lvl="1" indent="-269873" algn="l">
              <a:lnSpc>
                <a:spcPts val="374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Unified Data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Combines ocean models and real-time instrument data in one place.</a:t>
            </a:r>
          </a:p>
          <a:p>
            <a:pPr marL="539746" lvl="1" indent="-269873" algn="l">
              <a:lnSpc>
                <a:spcPts val="374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Quick Validation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Easily </a:t>
            </a: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compares model predictions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real ocean measurements.</a:t>
            </a:r>
          </a:p>
          <a:p>
            <a:pPr marL="539746" lvl="1" indent="-269873" algn="l">
              <a:lnSpc>
                <a:spcPts val="374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Installation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Works directly in common web browsers.</a:t>
            </a:r>
          </a:p>
          <a:p>
            <a:pPr marL="539746" lvl="1" indent="-269873" algn="l">
              <a:lnSpc>
                <a:spcPts val="374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Low Hardware Needs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Does not require expensive GIS software or powerful computers.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060450" y="5752271"/>
            <a:ext cx="14297065" cy="0"/>
          </a:xfrm>
          <a:prstGeom prst="line">
            <a:avLst/>
          </a:prstGeom>
          <a:ln w="38100" cap="flat">
            <a:solidFill>
              <a:srgbClr val="4A7EB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509055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84591" y="2221312"/>
            <a:ext cx="15471217" cy="614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just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Ocean Visualization: Three.js/CesiumJS creates an interactive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3D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ocean using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latitude, longitude, and depth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Users can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rotate, zoom, and explore the ocean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9120" lvl="1" indent="-289560" algn="just">
              <a:lnSpc>
                <a:spcPts val="54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Ocean Data Processing: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 + xarray processes large NetCDF datasets, while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FastAPI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sends only the required data to the browser.</a:t>
            </a:r>
          </a:p>
          <a:p>
            <a:pPr marL="579120" lvl="1" indent="-289560" algn="just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Integration: Argo and Glider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sensors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appear as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clickable points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selecting one displays its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temperature and salinity data as charts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79120" lvl="1" indent="-289560" algn="just">
              <a:lnSpc>
                <a:spcPts val="544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Interactive Analysis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Users can switch between Temperature, Salinity, and Currents, change depth, play time-based animations, and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compare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with </a:t>
            </a: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sensor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observations.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17067" y="186183"/>
            <a:ext cx="1937157" cy="1333369"/>
            <a:chOff x="0" y="0"/>
            <a:chExt cx="1180859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80859" cy="812800"/>
            </a:xfrm>
            <a:custGeom>
              <a:avLst/>
              <a:gdLst/>
              <a:ahLst/>
              <a:cxnLst/>
              <a:rect l="l" t="t" r="r" b="b"/>
              <a:pathLst>
                <a:path w="1180859" h="812800">
                  <a:moveTo>
                    <a:pt x="590430" y="0"/>
                  </a:moveTo>
                  <a:cubicBezTo>
                    <a:pt x="264344" y="0"/>
                    <a:pt x="0" y="181951"/>
                    <a:pt x="0" y="406400"/>
                  </a:cubicBezTo>
                  <a:cubicBezTo>
                    <a:pt x="0" y="630849"/>
                    <a:pt x="264344" y="812800"/>
                    <a:pt x="590430" y="812800"/>
                  </a:cubicBezTo>
                  <a:cubicBezTo>
                    <a:pt x="916515" y="812800"/>
                    <a:pt x="1180859" y="630849"/>
                    <a:pt x="1180859" y="406400"/>
                  </a:cubicBezTo>
                  <a:cubicBezTo>
                    <a:pt x="1180859" y="181951"/>
                    <a:pt x="916515" y="0"/>
                    <a:pt x="590430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10706" y="57150"/>
              <a:ext cx="959448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Nexus Nova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17067" y="186183"/>
            <a:ext cx="1937157" cy="1333369"/>
            <a:chOff x="0" y="0"/>
            <a:chExt cx="1180859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0859" cy="812800"/>
            </a:xfrm>
            <a:custGeom>
              <a:avLst/>
              <a:gdLst/>
              <a:ahLst/>
              <a:cxnLst/>
              <a:rect l="l" t="t" r="r" b="b"/>
              <a:pathLst>
                <a:path w="1180859" h="812800">
                  <a:moveTo>
                    <a:pt x="590430" y="0"/>
                  </a:moveTo>
                  <a:cubicBezTo>
                    <a:pt x="264344" y="0"/>
                    <a:pt x="0" y="181951"/>
                    <a:pt x="0" y="406400"/>
                  </a:cubicBezTo>
                  <a:cubicBezTo>
                    <a:pt x="0" y="630849"/>
                    <a:pt x="264344" y="812800"/>
                    <a:pt x="590430" y="812800"/>
                  </a:cubicBezTo>
                  <a:cubicBezTo>
                    <a:pt x="916515" y="812800"/>
                    <a:pt x="1180859" y="630849"/>
                    <a:pt x="1180859" y="406400"/>
                  </a:cubicBezTo>
                  <a:cubicBezTo>
                    <a:pt x="1180859" y="181951"/>
                    <a:pt x="916515" y="0"/>
                    <a:pt x="590430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0706" y="57150"/>
              <a:ext cx="959448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Nexus Nova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60815" y="2254806"/>
            <a:ext cx="7259876" cy="630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endParaRPr/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Huge 3D Data &amp; Slow Web Performance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Ocean models contain massive datasets that are slow to load and can overload browsers.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 Model &amp; Sensor Data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use regular grids, while sensors follow irregular paths, making comparison difficult.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 Formats &amp; Data Quality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Ocean sensors provide data in different formats with missing or unreliable readings.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98328" y="3547943"/>
            <a:ext cx="6816144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only the required data using chunking, LOD, and GPU rendering.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98328" y="5576768"/>
            <a:ext cx="790168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spatial indexing and interpolation to match model data with sensor observations.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98328" y="7548443"/>
            <a:ext cx="7346922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 data formats and automatically filter poor-quality measurements using QC flags.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80619" y="1807131"/>
            <a:ext cx="225446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44559" y="2030968"/>
            <a:ext cx="225446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17067" y="186183"/>
            <a:ext cx="1937157" cy="1333369"/>
            <a:chOff x="0" y="0"/>
            <a:chExt cx="1180859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0859" cy="812800"/>
            </a:xfrm>
            <a:custGeom>
              <a:avLst/>
              <a:gdLst/>
              <a:ahLst/>
              <a:cxnLst/>
              <a:rect l="l" t="t" r="r" b="b"/>
              <a:pathLst>
                <a:path w="1180859" h="812800">
                  <a:moveTo>
                    <a:pt x="590430" y="0"/>
                  </a:moveTo>
                  <a:cubicBezTo>
                    <a:pt x="264344" y="0"/>
                    <a:pt x="0" y="181951"/>
                    <a:pt x="0" y="406400"/>
                  </a:cubicBezTo>
                  <a:cubicBezTo>
                    <a:pt x="0" y="630849"/>
                    <a:pt x="264344" y="812800"/>
                    <a:pt x="590430" y="812800"/>
                  </a:cubicBezTo>
                  <a:cubicBezTo>
                    <a:pt x="916515" y="812800"/>
                    <a:pt x="1180859" y="630849"/>
                    <a:pt x="1180859" y="406400"/>
                  </a:cubicBezTo>
                  <a:cubicBezTo>
                    <a:pt x="1180859" y="181951"/>
                    <a:pt x="916515" y="0"/>
                    <a:pt x="590430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0706" y="57150"/>
              <a:ext cx="959448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Nexus Nova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517874" y="1256220"/>
            <a:ext cx="13602415" cy="417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endParaRPr/>
          </a:p>
          <a:p>
            <a:pPr algn="l">
              <a:lnSpc>
                <a:spcPts val="419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Users &amp; Impact</a:t>
            </a:r>
          </a:p>
          <a:p>
            <a:pPr algn="l">
              <a:lnSpc>
                <a:spcPts val="4199"/>
              </a:lnSpc>
            </a:pPr>
            <a:endParaRPr lang="en-US" sz="27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Ocean Forecasters: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Faster 3D visualization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easier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model-vs-observation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comparison.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Disaster Management: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Faster assessment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cyclones, storm surges, and coastal risks.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Researchers: Better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understanding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subsurface ocean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conditions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&amp; Policymakers: Simple, interactive visualization of complex ocean data.</a:t>
            </a:r>
          </a:p>
          <a:p>
            <a:pPr algn="l">
              <a:lnSpc>
                <a:spcPts val="419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517874" y="5340540"/>
            <a:ext cx="12999720" cy="313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Benefits</a:t>
            </a:r>
          </a:p>
          <a:p>
            <a:pPr algn="l">
              <a:lnSpc>
                <a:spcPts val="4199"/>
              </a:lnSpc>
            </a:pPr>
            <a:endParaRPr lang="en-US" sz="27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Fisheries: Better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fishing-zone identification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saving time and fuel.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Navigation &amp; Rescue: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Improved route planning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real-time ocean current data.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Early detection of marine heatwaves and faster pollution-spill response.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&amp; Scalability: Free/open-source solution with </a:t>
            </a: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low infrastructure requirements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3267" y="1751724"/>
            <a:ext cx="17677108" cy="7738748"/>
          </a:xfrm>
          <a:custGeom>
            <a:avLst/>
            <a:gdLst/>
            <a:ahLst/>
            <a:cxnLst/>
            <a:rect l="l" t="t" r="r" b="b"/>
            <a:pathLst>
              <a:path w="17677108" h="7738748">
                <a:moveTo>
                  <a:pt x="0" y="0"/>
                </a:moveTo>
                <a:lnTo>
                  <a:pt x="17677109" y="0"/>
                </a:lnTo>
                <a:lnTo>
                  <a:pt x="17677109" y="7738748"/>
                </a:lnTo>
                <a:lnTo>
                  <a:pt x="0" y="7738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637" b="-285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7067" y="186183"/>
            <a:ext cx="1937157" cy="1333369"/>
            <a:chOff x="0" y="0"/>
            <a:chExt cx="118085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0859" cy="812800"/>
            </a:xfrm>
            <a:custGeom>
              <a:avLst/>
              <a:gdLst/>
              <a:ahLst/>
              <a:cxnLst/>
              <a:rect l="l" t="t" r="r" b="b"/>
              <a:pathLst>
                <a:path w="1180859" h="812800">
                  <a:moveTo>
                    <a:pt x="590430" y="0"/>
                  </a:moveTo>
                  <a:cubicBezTo>
                    <a:pt x="264344" y="0"/>
                    <a:pt x="0" y="181951"/>
                    <a:pt x="0" y="406400"/>
                  </a:cubicBezTo>
                  <a:cubicBezTo>
                    <a:pt x="0" y="630849"/>
                    <a:pt x="264344" y="812800"/>
                    <a:pt x="590430" y="812800"/>
                  </a:cubicBezTo>
                  <a:cubicBezTo>
                    <a:pt x="916515" y="812800"/>
                    <a:pt x="1180859" y="630849"/>
                    <a:pt x="1180859" y="406400"/>
                  </a:cubicBezTo>
                  <a:cubicBezTo>
                    <a:pt x="1180859" y="181951"/>
                    <a:pt x="916515" y="0"/>
                    <a:pt x="590430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10706" y="57150"/>
              <a:ext cx="959448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Nexus Nova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462325" y="-64626"/>
            <a:ext cx="3825675" cy="1584178"/>
            <a:chOff x="0" y="0"/>
            <a:chExt cx="1007585" cy="4172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7585" cy="417232"/>
            </a:xfrm>
            <a:custGeom>
              <a:avLst/>
              <a:gdLst/>
              <a:ahLst/>
              <a:cxnLst/>
              <a:rect l="l" t="t" r="r" b="b"/>
              <a:pathLst>
                <a:path w="1007585" h="417232">
                  <a:moveTo>
                    <a:pt x="34402" y="0"/>
                  </a:moveTo>
                  <a:lnTo>
                    <a:pt x="973183" y="0"/>
                  </a:lnTo>
                  <a:cubicBezTo>
                    <a:pt x="982307" y="0"/>
                    <a:pt x="991057" y="3625"/>
                    <a:pt x="997509" y="10076"/>
                  </a:cubicBezTo>
                  <a:cubicBezTo>
                    <a:pt x="1003961" y="16528"/>
                    <a:pt x="1007585" y="25278"/>
                    <a:pt x="1007585" y="34402"/>
                  </a:cubicBezTo>
                  <a:lnTo>
                    <a:pt x="1007585" y="382830"/>
                  </a:lnTo>
                  <a:cubicBezTo>
                    <a:pt x="1007585" y="391954"/>
                    <a:pt x="1003961" y="400704"/>
                    <a:pt x="997509" y="407156"/>
                  </a:cubicBezTo>
                  <a:cubicBezTo>
                    <a:pt x="991057" y="413608"/>
                    <a:pt x="982307" y="417232"/>
                    <a:pt x="973183" y="417232"/>
                  </a:cubicBezTo>
                  <a:lnTo>
                    <a:pt x="34402" y="417232"/>
                  </a:lnTo>
                  <a:cubicBezTo>
                    <a:pt x="25278" y="417232"/>
                    <a:pt x="16528" y="413608"/>
                    <a:pt x="10076" y="407156"/>
                  </a:cubicBezTo>
                  <a:cubicBezTo>
                    <a:pt x="3625" y="400704"/>
                    <a:pt x="0" y="391954"/>
                    <a:pt x="0" y="382830"/>
                  </a:cubicBezTo>
                  <a:lnTo>
                    <a:pt x="0" y="34402"/>
                  </a:lnTo>
                  <a:cubicBezTo>
                    <a:pt x="0" y="25278"/>
                    <a:pt x="3625" y="16528"/>
                    <a:pt x="10076" y="10076"/>
                  </a:cubicBezTo>
                  <a:cubicBezTo>
                    <a:pt x="16528" y="3625"/>
                    <a:pt x="25278" y="0"/>
                    <a:pt x="344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007585" cy="436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687776" y="-73952"/>
            <a:ext cx="3374774" cy="1593504"/>
            <a:chOff x="0" y="0"/>
            <a:chExt cx="4499699" cy="21246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039313" y="289313"/>
            <a:ext cx="867197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  <a:spcBef>
                <a:spcPct val="0"/>
              </a:spcBef>
            </a:pPr>
            <a:r>
              <a:rPr lang="en-US" sz="5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61086" y="415864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17067" y="186183"/>
            <a:ext cx="1937157" cy="1333369"/>
            <a:chOff x="0" y="0"/>
            <a:chExt cx="1180859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0859" cy="812800"/>
            </a:xfrm>
            <a:custGeom>
              <a:avLst/>
              <a:gdLst/>
              <a:ahLst/>
              <a:cxnLst/>
              <a:rect l="l" t="t" r="r" b="b"/>
              <a:pathLst>
                <a:path w="1180859" h="812800">
                  <a:moveTo>
                    <a:pt x="590430" y="0"/>
                  </a:moveTo>
                  <a:cubicBezTo>
                    <a:pt x="264344" y="0"/>
                    <a:pt x="0" y="181951"/>
                    <a:pt x="0" y="406400"/>
                  </a:cubicBezTo>
                  <a:cubicBezTo>
                    <a:pt x="0" y="630849"/>
                    <a:pt x="264344" y="812800"/>
                    <a:pt x="590430" y="812800"/>
                  </a:cubicBezTo>
                  <a:cubicBezTo>
                    <a:pt x="916515" y="812800"/>
                    <a:pt x="1180859" y="630849"/>
                    <a:pt x="1180859" y="406400"/>
                  </a:cubicBezTo>
                  <a:cubicBezTo>
                    <a:pt x="1180859" y="181951"/>
                    <a:pt x="916515" y="0"/>
                    <a:pt x="590430" y="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0706" y="57150"/>
              <a:ext cx="959448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Nexus Nova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887802" y="2499780"/>
            <a:ext cx="8512397" cy="5498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spc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INCOIS Live Access Server (LAS): </a:t>
            </a:r>
          </a:p>
          <a:p>
            <a:pPr marL="604519" lvl="1" indent="-302260" algn="l">
              <a:lnSpc>
                <a:spcPts val="3639"/>
              </a:lnSpc>
              <a:buFont typeface="Arial"/>
              <a:buChar char="•"/>
            </a:pPr>
            <a:r>
              <a:rPr lang="en-US" sz="2799" spc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URL: https://las.incois.gov.in/</a:t>
            </a:r>
          </a:p>
          <a:p>
            <a:pPr algn="l">
              <a:lnSpc>
                <a:spcPts val="3639"/>
              </a:lnSpc>
            </a:pPr>
            <a:endParaRPr lang="en-US" sz="2799" spc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639"/>
              </a:lnSpc>
            </a:pPr>
            <a:r>
              <a:rPr lang="en-US" sz="2799" spc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Copernicus Marine Service (CMEMS): </a:t>
            </a:r>
          </a:p>
          <a:p>
            <a:pPr marL="604519" lvl="1" indent="-302260" algn="l">
              <a:lnSpc>
                <a:spcPts val="3639"/>
              </a:lnSpc>
              <a:buFont typeface="Arial"/>
              <a:buChar char="•"/>
            </a:pPr>
            <a:r>
              <a:rPr lang="en-US" sz="2799" spc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ID: GLOBAL_MULTIYEAR_PHY_001_030</a:t>
            </a:r>
          </a:p>
          <a:p>
            <a:pPr marL="604519" lvl="1" indent="-302260" algn="l">
              <a:lnSpc>
                <a:spcPts val="3639"/>
              </a:lnSpc>
              <a:buFont typeface="Arial"/>
              <a:buChar char="•"/>
            </a:pPr>
            <a:r>
              <a:rPr lang="en-US" sz="2799" spc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URL: https://data.marine.copernicus.eu/</a:t>
            </a:r>
          </a:p>
          <a:p>
            <a:pPr algn="l">
              <a:lnSpc>
                <a:spcPts val="3639"/>
              </a:lnSpc>
            </a:pPr>
            <a:endParaRPr lang="en-US" sz="2799" spc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639"/>
              </a:lnSpc>
            </a:pPr>
            <a:r>
              <a:rPr lang="en-US" sz="2799" spc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Argo Global Data Assembly Centre (GDAC): </a:t>
            </a:r>
          </a:p>
          <a:p>
            <a:pPr marL="604519" lvl="1" indent="-302260" algn="l">
              <a:lnSpc>
                <a:spcPts val="3639"/>
              </a:lnSpc>
              <a:buFont typeface="Arial"/>
              <a:buChar char="•"/>
            </a:pPr>
            <a:r>
              <a:rPr lang="en-US" sz="2799" spc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FTP: ftp://ftp.ifremer.fr/ifremer/argo</a:t>
            </a:r>
          </a:p>
          <a:p>
            <a:pPr algn="l">
              <a:lnSpc>
                <a:spcPts val="3639"/>
              </a:lnSpc>
            </a:pPr>
            <a:endParaRPr lang="en-US" sz="2799" spc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639"/>
              </a:lnSpc>
            </a:pPr>
            <a:r>
              <a:rPr lang="en-US" sz="2799" spc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OceanGliders</a:t>
            </a:r>
            <a:r>
              <a:rPr lang="en-US" sz="2799" spc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Global Data Repository: </a:t>
            </a:r>
          </a:p>
          <a:p>
            <a:pPr marL="604519" lvl="1" indent="-302260" algn="l">
              <a:lnSpc>
                <a:spcPts val="3639"/>
              </a:lnSpc>
              <a:buFont typeface="Arial"/>
              <a:buChar char="•"/>
            </a:pPr>
            <a:r>
              <a:rPr lang="en-US" sz="2799" spc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FTP: ftp://ftp.ifremer.fr/ifremer/glider/v2/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Custom</PresentationFormat>
  <Paragraphs>103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Garamond Bold</vt:lpstr>
      <vt:lpstr>Times New Roman</vt:lpstr>
      <vt:lpstr>Arial</vt:lpstr>
      <vt:lpstr>Calibri</vt:lpstr>
      <vt:lpstr>Arimo 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cp:lastModifiedBy>V S ABHINAV</cp:lastModifiedBy>
  <cp:revision>1</cp:revision>
  <dcterms:created xsi:type="dcterms:W3CDTF">2006-08-16T00:00:00Z</dcterms:created>
  <dcterms:modified xsi:type="dcterms:W3CDTF">2026-09-02T05:57:11Z</dcterms:modified>
  <dc:identifier>DAHT-NK2Rs8</dc:identifier>
</cp:coreProperties>
</file>